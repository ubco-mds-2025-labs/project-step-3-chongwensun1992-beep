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5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6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565" r:id="rId2"/>
    <p:sldId id="992" r:id="rId3"/>
    <p:sldId id="993" r:id="rId4"/>
    <p:sldId id="995" r:id="rId5"/>
    <p:sldId id="997" r:id="rId6"/>
    <p:sldId id="998" r:id="rId7"/>
    <p:sldId id="996" r:id="rId8"/>
    <p:sldId id="1001" r:id="rId9"/>
    <p:sldId id="1003" r:id="rId10"/>
  </p:sldIdLst>
  <p:sldSz cx="9144000" cy="5143500" type="screen16x9"/>
  <p:notesSz cx="7023100" cy="93091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5DAFACE8-9C5B-4EB8-B892-3F925D49A0F2}">
          <p14:sldIdLst>
            <p14:sldId id="565"/>
            <p14:sldId id="992"/>
            <p14:sldId id="993"/>
            <p14:sldId id="995"/>
            <p14:sldId id="997"/>
            <p14:sldId id="998"/>
            <p14:sldId id="996"/>
            <p14:sldId id="1001"/>
            <p14:sldId id="100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68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18">
          <p15:clr>
            <a:srgbClr val="A4A3A4"/>
          </p15:clr>
        </p15:guide>
        <p15:guide id="2" pos="221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0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177"/>
    <p:restoredTop sz="96159" autoAdjust="0"/>
  </p:normalViewPr>
  <p:slideViewPr>
    <p:cSldViewPr showGuides="1">
      <p:cViewPr varScale="1">
        <p:scale>
          <a:sx n="162" d="100"/>
          <a:sy n="162" d="100"/>
        </p:scale>
        <p:origin x="272" y="176"/>
      </p:cViewPr>
      <p:guideLst>
        <p:guide orient="horz" pos="1668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 varScale="1">
        <p:scale>
          <a:sx n="98" d="100"/>
          <a:sy n="98" d="100"/>
        </p:scale>
        <p:origin x="3546" y="78"/>
      </p:cViewPr>
      <p:guideLst>
        <p:guide orient="horz" pos="3018"/>
        <p:guide pos="2212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3238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8275" y="0"/>
            <a:ext cx="3043238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EB8343-857D-4973-A47C-BFBF7FD1F314}" type="datetimeFigureOut">
              <a:rPr lang="en-CA" smtClean="0"/>
              <a:t>2025-11-24</a:t>
            </a:fld>
            <a:endParaRPr lang="en-C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42375"/>
            <a:ext cx="3043238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8275" y="8842375"/>
            <a:ext cx="3043238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2E2228-6213-4DA8-A66E-0E10BE9C9D50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2"/>
            <a:ext cx="3043343" cy="465455"/>
          </a:xfrm>
          <a:prstGeom prst="rect">
            <a:avLst/>
          </a:prstGeom>
        </p:spPr>
        <p:txBody>
          <a:bodyPr vert="horz" lIns="93291" tIns="46647" rIns="93291" bIns="46647" rtlCol="0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8131" y="2"/>
            <a:ext cx="3043343" cy="465455"/>
          </a:xfrm>
          <a:prstGeom prst="rect">
            <a:avLst/>
          </a:prstGeom>
        </p:spPr>
        <p:txBody>
          <a:bodyPr vert="horz" lIns="93291" tIns="46647" rIns="93291" bIns="46647" rtlCol="0"/>
          <a:lstStyle>
            <a:lvl1pPr algn="r">
              <a:defRPr sz="1300"/>
            </a:lvl1pPr>
          </a:lstStyle>
          <a:p>
            <a:fld id="{D2949B78-ECBF-4D79-8EE0-7EEBA90FC5BE}" type="datetimeFigureOut">
              <a:rPr lang="en-US" smtClean="0"/>
              <a:t>11/24/25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698500"/>
            <a:ext cx="6205538" cy="34909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291" tIns="46647" rIns="93291" bIns="46647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2310" y="4421823"/>
            <a:ext cx="5618480" cy="4189095"/>
          </a:xfrm>
          <a:prstGeom prst="rect">
            <a:avLst/>
          </a:prstGeom>
        </p:spPr>
        <p:txBody>
          <a:bodyPr vert="horz" lIns="93291" tIns="46647" rIns="93291" bIns="46647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2032"/>
            <a:ext cx="3043343" cy="465455"/>
          </a:xfrm>
          <a:prstGeom prst="rect">
            <a:avLst/>
          </a:prstGeom>
        </p:spPr>
        <p:txBody>
          <a:bodyPr vert="horz" lIns="93291" tIns="46647" rIns="93291" bIns="46647" rtlCol="0" anchor="b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8131" y="8842032"/>
            <a:ext cx="3043343" cy="465455"/>
          </a:xfrm>
          <a:prstGeom prst="rect">
            <a:avLst/>
          </a:prstGeom>
        </p:spPr>
        <p:txBody>
          <a:bodyPr vert="horz" lIns="93291" tIns="46647" rIns="93291" bIns="46647" rtlCol="0" anchor="b"/>
          <a:lstStyle>
            <a:lvl1pPr algn="r">
              <a:defRPr sz="1300"/>
            </a:lvl1pPr>
          </a:lstStyle>
          <a:p>
            <a:fld id="{A34CEF61-6081-4889-BDED-2ADA6FECE219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4CEF61-6081-4889-BDED-2ADA6FECE219}" type="slidenum">
              <a:rPr lang="en-US" smtClean="0"/>
              <a:t>1</a:t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" descr="2015_Hover_Aerials_Okanagan_6389-6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 userDrawn="1"/>
        </p:nvSpPr>
        <p:spPr>
          <a:xfrm>
            <a:off x="8243888" y="1131888"/>
            <a:ext cx="900112" cy="1131887"/>
          </a:xfrm>
          <a:prstGeom prst="rect">
            <a:avLst/>
          </a:prstGeom>
          <a:solidFill>
            <a:srgbClr val="FFFFFF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-107950" y="1131888"/>
            <a:ext cx="6122988" cy="2735262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dirty="0"/>
          </a:p>
        </p:txBody>
      </p:sp>
      <p:pic>
        <p:nvPicPr>
          <p:cNvPr id="8" name="Picture 3" descr="s4b282c2015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3763" y="1439863"/>
            <a:ext cx="363537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 Placeholder 18"/>
          <p:cNvSpPr>
            <a:spLocks noGrp="1"/>
          </p:cNvSpPr>
          <p:nvPr>
            <p:ph type="body" sz="quarter" idx="11" hasCustomPrompt="1"/>
          </p:nvPr>
        </p:nvSpPr>
        <p:spPr>
          <a:xfrm>
            <a:off x="365587" y="1332646"/>
            <a:ext cx="5430376" cy="1671152"/>
          </a:xfrm>
          <a:prstGeom prst="rect">
            <a:avLst/>
          </a:prstGeom>
        </p:spPr>
        <p:txBody>
          <a:bodyPr vert="horz" lIns="0" tIns="0" rIns="0" bIns="0" anchor="t" anchorCtr="0"/>
          <a:lstStyle>
            <a:lvl1pPr marL="0" indent="0">
              <a:lnSpc>
                <a:spcPts val="3800"/>
              </a:lnSpc>
              <a:spcBef>
                <a:spcPts val="0"/>
              </a:spcBef>
              <a:buNone/>
              <a:defRPr sz="3400" b="1" i="0" kern="0" cap="none" spc="30" baseline="0">
                <a:solidFill>
                  <a:srgbClr val="002040"/>
                </a:solidFill>
                <a:latin typeface="Arial" panose="020B0704020202020204"/>
                <a:cs typeface="Arial" panose="020B0704020202020204"/>
              </a:defRPr>
            </a:lvl1pPr>
          </a:lstStyle>
          <a:p>
            <a:pPr lvl="0"/>
            <a:r>
              <a:rPr lang="en-CA" dirty="0"/>
              <a:t>Click To Edit Master Text Styles</a:t>
            </a:r>
          </a:p>
        </p:txBody>
      </p:sp>
      <p:sp>
        <p:nvSpPr>
          <p:cNvPr id="13" name="Text Placeholder 14"/>
          <p:cNvSpPr>
            <a:spLocks noGrp="1"/>
          </p:cNvSpPr>
          <p:nvPr>
            <p:ph type="body" sz="quarter" idx="12" hasCustomPrompt="1"/>
          </p:nvPr>
        </p:nvSpPr>
        <p:spPr>
          <a:xfrm>
            <a:off x="365760" y="3003798"/>
            <a:ext cx="5430203" cy="321394"/>
          </a:xfrm>
          <a:prstGeom prst="rect">
            <a:avLst/>
          </a:prstGeom>
        </p:spPr>
        <p:txBody>
          <a:bodyPr vert="horz" lIns="0" tIns="0" rIns="0" bIns="0"/>
          <a:lstStyle>
            <a:lvl1pPr marL="0" indent="0">
              <a:buNone/>
              <a:defRPr sz="1800" b="0" i="0" kern="0" spc="30" baseline="0">
                <a:solidFill>
                  <a:srgbClr val="002040"/>
                </a:solidFill>
                <a:latin typeface="Arial" panose="020B0704020202020204"/>
                <a:cs typeface="Arial" panose="020B0704020202020204"/>
              </a:defRPr>
            </a:lvl1pPr>
            <a:lvl2pPr>
              <a:defRPr sz="900" b="0" i="0">
                <a:latin typeface="Whitney Book"/>
                <a:cs typeface="Whitney Book"/>
              </a:defRPr>
            </a:lvl2pPr>
            <a:lvl3pPr>
              <a:defRPr sz="900" b="0" i="0">
                <a:latin typeface="Whitney Book"/>
                <a:cs typeface="Whitney Book"/>
              </a:defRPr>
            </a:lvl3pPr>
            <a:lvl4pPr>
              <a:defRPr sz="900" b="0" i="0">
                <a:latin typeface="Whitney Book"/>
                <a:cs typeface="Whitney Book"/>
              </a:defRPr>
            </a:lvl4pPr>
            <a:lvl5pPr>
              <a:defRPr sz="900" b="0" i="0">
                <a:latin typeface="Whitney Book"/>
                <a:cs typeface="Whitney Book"/>
              </a:defRPr>
            </a:lvl5pPr>
          </a:lstStyle>
          <a:p>
            <a:pPr lvl="0"/>
            <a:r>
              <a:rPr lang="en-CA" dirty="0"/>
              <a:t>UBCO Master of Data Science - &lt;course number&gt;</a:t>
            </a:r>
          </a:p>
        </p:txBody>
      </p:sp>
      <p:sp>
        <p:nvSpPr>
          <p:cNvPr id="14" name="Text Placeholder 14"/>
          <p:cNvSpPr>
            <a:spLocks noGrp="1"/>
          </p:cNvSpPr>
          <p:nvPr>
            <p:ph type="body" sz="quarter" idx="13"/>
          </p:nvPr>
        </p:nvSpPr>
        <p:spPr>
          <a:xfrm>
            <a:off x="365760" y="3507854"/>
            <a:ext cx="5430203" cy="321394"/>
          </a:xfrm>
          <a:prstGeom prst="rect">
            <a:avLst/>
          </a:prstGeom>
        </p:spPr>
        <p:txBody>
          <a:bodyPr vert="horz" lIns="0" tIns="0" rIns="0" bIns="0"/>
          <a:lstStyle>
            <a:lvl1pPr marL="0" indent="0">
              <a:buNone/>
              <a:defRPr sz="1000" b="1" i="0" kern="0" cap="all" spc="150" normalizeH="0" baseline="0">
                <a:solidFill>
                  <a:srgbClr val="0C2344"/>
                </a:solidFill>
                <a:latin typeface="Arial" panose="020B0704020202020204"/>
                <a:cs typeface="Arial" panose="020B0704020202020204"/>
              </a:defRPr>
            </a:lvl1pPr>
            <a:lvl2pPr>
              <a:defRPr sz="900" b="0" i="0">
                <a:latin typeface="Whitney Book"/>
                <a:cs typeface="Whitney Book"/>
              </a:defRPr>
            </a:lvl2pPr>
            <a:lvl3pPr>
              <a:defRPr sz="900" b="0" i="0">
                <a:latin typeface="Whitney Book"/>
                <a:cs typeface="Whitney Book"/>
              </a:defRPr>
            </a:lvl3pPr>
            <a:lvl4pPr>
              <a:defRPr sz="900" b="0" i="0">
                <a:latin typeface="Whitney Book"/>
                <a:cs typeface="Whitney Book"/>
              </a:defRPr>
            </a:lvl4pPr>
            <a:lvl5pPr>
              <a:defRPr sz="900" b="0" i="0">
                <a:latin typeface="Whitney Book"/>
                <a:cs typeface="Whitney Book"/>
              </a:defRPr>
            </a:lvl5pPr>
          </a:lstStyle>
          <a:p>
            <a:pPr lvl="0"/>
            <a:r>
              <a:rPr lang="en-CA" dirty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8991599" cy="819150"/>
          </a:xfrm>
          <a:prstGeom prst="rect">
            <a:avLst/>
          </a:prstGeom>
        </p:spPr>
        <p:txBody>
          <a:bodyPr tIns="0" bIns="0" anchor="b">
            <a:normAutofit/>
          </a:bodyPr>
          <a:lstStyle>
            <a:lvl1pPr algn="l">
              <a:lnSpc>
                <a:spcPct val="89000"/>
              </a:lnSpc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876560"/>
            <a:ext cx="9017925" cy="4209789"/>
          </a:xfrm>
        </p:spPr>
        <p:txBody>
          <a:bodyPr/>
          <a:lstStyle>
            <a:lvl1pPr marL="90170" indent="-90170">
              <a:lnSpc>
                <a:spcPct val="89000"/>
              </a:lnSpc>
              <a:spcBef>
                <a:spcPts val="1000"/>
              </a:spcBef>
              <a:buFont typeface="Calibri" panose="020F0502020204030204" pitchFamily="34" charset="0"/>
              <a:buChar char=" "/>
              <a:defRPr/>
            </a:lvl1pPr>
            <a:lvl2pPr marL="457200" indent="-219710">
              <a:lnSpc>
                <a:spcPct val="89000"/>
              </a:lnSpc>
              <a:defRPr/>
            </a:lvl2pPr>
            <a:lvl3pPr marL="731520">
              <a:lnSpc>
                <a:spcPct val="89000"/>
              </a:lnSpc>
              <a:defRPr>
                <a:solidFill>
                  <a:srgbClr val="FFC000"/>
                </a:solidFill>
              </a:defRPr>
            </a:lvl3pPr>
            <a:lvl4pPr>
              <a:lnSpc>
                <a:spcPct val="89000"/>
              </a:lnSpc>
              <a:defRPr>
                <a:solidFill>
                  <a:schemeClr val="bg2">
                    <a:lumMod val="20000"/>
                    <a:lumOff val="80000"/>
                  </a:schemeClr>
                </a:solidFill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 (white bg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8991599" cy="819150"/>
          </a:xfrm>
          <a:prstGeom prst="rect">
            <a:avLst/>
          </a:prstGeom>
        </p:spPr>
        <p:txBody>
          <a:bodyPr tIns="0" bIns="0" anchor="b">
            <a:normAutofit/>
          </a:bodyPr>
          <a:lstStyle>
            <a:lvl1pPr algn="l">
              <a:lnSpc>
                <a:spcPct val="89000"/>
              </a:lnSpc>
              <a:defRPr sz="3200">
                <a:solidFill>
                  <a:srgbClr val="00204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38" y="819150"/>
            <a:ext cx="9031287" cy="4267200"/>
          </a:xfrm>
        </p:spPr>
        <p:txBody>
          <a:bodyPr/>
          <a:lstStyle>
            <a:lvl1pPr marL="91440" indent="-91440">
              <a:lnSpc>
                <a:spcPct val="89000"/>
              </a:lnSpc>
              <a:spcBef>
                <a:spcPts val="1000"/>
              </a:spcBef>
              <a:buFont typeface="Symbol" pitchFamily="18" charset="2"/>
              <a:buChar char=" "/>
              <a:defRPr>
                <a:solidFill>
                  <a:srgbClr val="002040"/>
                </a:solidFill>
              </a:defRPr>
            </a:lvl1pPr>
            <a:lvl2pPr marL="457200" indent="-219710">
              <a:lnSpc>
                <a:spcPct val="89000"/>
              </a:lnSpc>
              <a:defRPr>
                <a:solidFill>
                  <a:srgbClr val="002040"/>
                </a:solidFill>
              </a:defRPr>
            </a:lvl2pPr>
            <a:lvl3pPr marL="731520">
              <a:lnSpc>
                <a:spcPct val="89000"/>
              </a:lnSpc>
              <a:defRPr>
                <a:solidFill>
                  <a:srgbClr val="002040"/>
                </a:solidFill>
              </a:defRPr>
            </a:lvl3pPr>
            <a:lvl4pPr>
              <a:lnSpc>
                <a:spcPct val="89000"/>
              </a:lnSpc>
              <a:defRPr>
                <a:solidFill>
                  <a:srgbClr val="002040"/>
                </a:solidFill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pic>
        <p:nvPicPr>
          <p:cNvPr id="4" name="Picture 1" descr="s4b282c2015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4531" y="220356"/>
            <a:ext cx="363537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Line 5"/>
          <p:cNvSpPr>
            <a:spLocks noChangeShapeType="1"/>
          </p:cNvSpPr>
          <p:nvPr userDrawn="1"/>
        </p:nvSpPr>
        <p:spPr bwMode="auto">
          <a:xfrm flipV="1">
            <a:off x="62838" y="832567"/>
            <a:ext cx="9031287" cy="0"/>
          </a:xfrm>
          <a:prstGeom prst="line">
            <a:avLst/>
          </a:prstGeom>
          <a:noFill/>
          <a:ln w="47625" cmpd="thinThick">
            <a:solidFill>
              <a:srgbClr val="00204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6" name="Text Placeholder 14"/>
          <p:cNvSpPr txBox="1"/>
          <p:nvPr userDrawn="1"/>
        </p:nvSpPr>
        <p:spPr>
          <a:xfrm flipH="1">
            <a:off x="8783528" y="4823277"/>
            <a:ext cx="304800" cy="192087"/>
          </a:xfrm>
          <a:prstGeom prst="rect">
            <a:avLst/>
          </a:prstGeom>
        </p:spPr>
        <p:txBody>
          <a:bodyPr lIns="0" tIns="0" rIns="0" bIns="0"/>
          <a:lstStyle>
            <a:lvl1pPr eaLnBrk="0" hangingPunct="0">
              <a:defRPr sz="2400">
                <a:solidFill>
                  <a:schemeClr val="tx1"/>
                </a:solidFill>
                <a:latin typeface="Arial" panose="020B07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7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7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7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7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7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7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7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704020202020204" pitchFamily="34" charset="0"/>
                <a:ea typeface="MS PGothic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buFont typeface="Arial" panose="020B0704020202020204" pitchFamily="34" charset="0"/>
              <a:buNone/>
              <a:defRPr/>
            </a:pPr>
            <a:fld id="{502CAF39-FB8C-4AC0-85DB-1596783B46C6}" type="slidenum">
              <a:rPr lang="en-US" altLang="en-US" sz="1800" smtClean="0">
                <a:solidFill>
                  <a:srgbClr val="002040"/>
                </a:solidFill>
                <a:cs typeface="Arial" panose="020B0704020202020204" pitchFamily="34" charset="0"/>
              </a:rPr>
              <a:t>‹#›</a:t>
            </a:fld>
            <a:endParaRPr lang="en-CA" altLang="en-US" sz="1800" dirty="0">
              <a:solidFill>
                <a:srgbClr val="002040"/>
              </a:solidFill>
              <a:cs typeface="Arial" panose="020B07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0081969092_65874fd6f2_o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/>
          <p:nvPr userDrawn="1"/>
        </p:nvSpPr>
        <p:spPr>
          <a:xfrm>
            <a:off x="0" y="1131888"/>
            <a:ext cx="4716463" cy="107950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704020202020204"/>
              <a:ea typeface="+mn-ea"/>
              <a:cs typeface="+mn-cs"/>
            </a:endParaRPr>
          </a:p>
        </p:txBody>
      </p:sp>
      <p:pic>
        <p:nvPicPr>
          <p:cNvPr id="4" name="Picture 3" descr="UBC_2016_Signature_Wide_282.pn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738" y="1439863"/>
            <a:ext cx="3895725" cy="512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38" y="895350"/>
            <a:ext cx="9031287" cy="42774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1" name="Line 5"/>
          <p:cNvSpPr>
            <a:spLocks noChangeShapeType="1"/>
          </p:cNvSpPr>
          <p:nvPr userDrawn="1"/>
        </p:nvSpPr>
        <p:spPr bwMode="auto">
          <a:xfrm flipV="1">
            <a:off x="62838" y="832567"/>
            <a:ext cx="9031287" cy="0"/>
          </a:xfrm>
          <a:prstGeom prst="line">
            <a:avLst/>
          </a:prstGeom>
          <a:noFill/>
          <a:ln w="47625" cmpd="thinThick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2" name="Title Placeholder 11"/>
          <p:cNvSpPr>
            <a:spLocks noGrp="1"/>
          </p:cNvSpPr>
          <p:nvPr>
            <p:ph type="title"/>
          </p:nvPr>
        </p:nvSpPr>
        <p:spPr>
          <a:xfrm>
            <a:off x="66504" y="2020"/>
            <a:ext cx="9027621" cy="77621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14"/>
          <p:cNvSpPr txBox="1"/>
          <p:nvPr userDrawn="1"/>
        </p:nvSpPr>
        <p:spPr>
          <a:xfrm flipH="1">
            <a:off x="8752762" y="4823277"/>
            <a:ext cx="304800" cy="192087"/>
          </a:xfrm>
          <a:prstGeom prst="rect">
            <a:avLst/>
          </a:prstGeom>
        </p:spPr>
        <p:txBody>
          <a:bodyPr lIns="0" tIns="0" rIns="0" bIns="0"/>
          <a:lstStyle>
            <a:lvl1pPr eaLnBrk="0" hangingPunct="0">
              <a:defRPr sz="2400">
                <a:solidFill>
                  <a:schemeClr val="tx1"/>
                </a:solidFill>
                <a:latin typeface="Arial" panose="020B07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7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7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7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7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7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7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7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704020202020204" pitchFamily="34" charset="0"/>
                <a:ea typeface="MS PGothic" panose="020B0600070205080204" pitchFamily="34" charset="-128"/>
              </a:defRPr>
            </a:lvl9pPr>
          </a:lstStyle>
          <a:p>
            <a:pPr algn="r">
              <a:spcBef>
                <a:spcPct val="20000"/>
              </a:spcBef>
              <a:buFont typeface="Arial" panose="020B0704020202020204" pitchFamily="34" charset="0"/>
              <a:buNone/>
              <a:defRPr/>
            </a:pPr>
            <a:fld id="{502CAF39-FB8C-4AC0-85DB-1596783B46C6}" type="slidenum">
              <a:rPr lang="en-US" altLang="en-US" sz="1800" smtClean="0">
                <a:cs typeface="Arial" panose="020B0704020202020204" pitchFamily="34" charset="0"/>
              </a:rPr>
              <a:t>‹#›</a:t>
            </a:fld>
            <a:endParaRPr lang="en-CA" altLang="en-US" sz="1800" dirty="0">
              <a:cs typeface="Arial" panose="020B0704020202020204" pitchFamily="34" charset="0"/>
            </a:endParaRPr>
          </a:p>
        </p:txBody>
      </p:sp>
      <p:pic>
        <p:nvPicPr>
          <p:cNvPr id="8" name="Picture 2" descr="2014_logo_only_reverse.png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7492" y="160738"/>
            <a:ext cx="407987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9000"/>
        </a:lnSpc>
        <a:spcBef>
          <a:spcPct val="20000"/>
        </a:spcBef>
        <a:buFont typeface="Arial" panose="020B07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19430" indent="-285750" algn="l" defTabSz="914400" rtl="0" eaLnBrk="1" latinLnBrk="0" hangingPunct="1">
        <a:lnSpc>
          <a:spcPct val="89000"/>
        </a:lnSpc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rgbClr val="FFFF00"/>
          </a:solidFill>
          <a:latin typeface="+mn-lt"/>
          <a:ea typeface="+mn-ea"/>
          <a:cs typeface="+mn-cs"/>
        </a:defRPr>
      </a:lvl2pPr>
      <a:lvl3pPr marL="742950" indent="-228600" algn="l" defTabSz="914400" rtl="0" eaLnBrk="1" latinLnBrk="0" hangingPunct="1">
        <a:lnSpc>
          <a:spcPct val="89000"/>
        </a:lnSpc>
        <a:spcBef>
          <a:spcPct val="20000"/>
        </a:spcBef>
        <a:buFont typeface="Wingdings" panose="05000000000000000000" pitchFamily="2" charset="2"/>
        <a:buChar char="§"/>
        <a:defRPr sz="1800" kern="1200">
          <a:solidFill>
            <a:schemeClr val="accent4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976630" indent="-228600" algn="l" defTabSz="914400" rtl="0" eaLnBrk="1" latinLnBrk="0" hangingPunct="1">
        <a:lnSpc>
          <a:spcPct val="89000"/>
        </a:lnSpc>
        <a:spcBef>
          <a:spcPct val="20000"/>
        </a:spcBef>
        <a:buFont typeface="Arial" panose="020B0704020202020204" pitchFamily="34" charset="0"/>
        <a:buChar char="–"/>
        <a:defRPr sz="1800" kern="1200">
          <a:solidFill>
            <a:srgbClr val="FFC000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152400" y="1809750"/>
            <a:ext cx="5880735" cy="1671320"/>
          </a:xfrm>
        </p:spPr>
        <p:txBody>
          <a:bodyPr/>
          <a:lstStyle/>
          <a:p>
            <a:r>
              <a:rPr lang="en-US" dirty="0"/>
              <a:t>SmartBudget_Presentation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213360" y="2927598"/>
            <a:ext cx="5430203" cy="321394"/>
          </a:xfrm>
        </p:spPr>
        <p:txBody>
          <a:bodyPr/>
          <a:lstStyle/>
          <a:p>
            <a:r>
              <a:rPr lang="en-CA" dirty="0"/>
              <a:t>UBCO Master of Data Science – DATA 5</a:t>
            </a:r>
            <a:r>
              <a:rPr lang="en-US" altLang="en-CA" dirty="0"/>
              <a:t>33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CA" dirty="0"/>
              <a:t>    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SmartBudget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2091055"/>
            <a:ext cx="9017635" cy="1769110"/>
          </a:xfrm>
        </p:spPr>
        <p:txBody>
          <a:bodyPr>
            <a:normAutofit/>
          </a:bodyPr>
          <a:lstStyle/>
          <a:p>
            <a:r>
              <a:rPr sz="2200" dirty="0"/>
              <a:t>Group Members:</a:t>
            </a:r>
          </a:p>
          <a:p>
            <a:r>
              <a:rPr sz="2200" dirty="0"/>
              <a:t>- Student </a:t>
            </a:r>
            <a:r>
              <a:rPr lang="en-US" sz="2200" dirty="0" err="1"/>
              <a:t>C</a:t>
            </a:r>
            <a:r>
              <a:rPr lang="en-US" altLang="zh-CN" sz="2200" dirty="0" err="1"/>
              <a:t>hongwen</a:t>
            </a:r>
            <a:r>
              <a:rPr lang="en-US" altLang="zh-CN" sz="2200" dirty="0"/>
              <a:t>(Peter) Sun</a:t>
            </a:r>
            <a:endParaRPr sz="2200" dirty="0"/>
          </a:p>
          <a:p>
            <a:r>
              <a:rPr sz="2200" dirty="0"/>
              <a:t>- Student </a:t>
            </a:r>
            <a:r>
              <a:rPr lang="en-US" sz="2200" dirty="0"/>
              <a:t>Yifu Zhao</a:t>
            </a:r>
            <a:endParaRPr sz="2200" dirty="0"/>
          </a:p>
          <a:p>
            <a:r>
              <a:rPr sz="2200" dirty="0"/>
              <a:t>- Student C</a:t>
            </a:r>
            <a:r>
              <a:rPr lang="en-US" sz="2200" dirty="0"/>
              <a:t>ho Wing Chan</a:t>
            </a:r>
            <a:endParaRPr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2343150"/>
            <a:ext cx="6515100" cy="1592580"/>
          </a:xfrm>
        </p:spPr>
        <p:txBody>
          <a:bodyPr/>
          <a:lstStyle/>
          <a:p>
            <a:pPr algn="just">
              <a:buFont typeface="Arial" panose="020B0704020202020204" pitchFamily="34" charset="0"/>
              <a:buChar char="•"/>
            </a:pPr>
            <a:r>
              <a:rPr lang="en-US" sz="1800" dirty="0">
                <a:sym typeface="+mn-ea"/>
              </a:rPr>
              <a:t>Allows </a:t>
            </a:r>
            <a:r>
              <a:rPr sz="1800" dirty="0">
                <a:sym typeface="+mn-ea"/>
              </a:rPr>
              <a:t>users </a:t>
            </a:r>
            <a:r>
              <a:rPr sz="1800" dirty="0"/>
              <a:t>add income and expense records, save, load and clean data in JSON format, and generate</a:t>
            </a:r>
            <a:r>
              <a:rPr lang="en-US" sz="1800" dirty="0"/>
              <a:t> basic financial summaries</a:t>
            </a:r>
            <a:r>
              <a:rPr sz="1800" dirty="0"/>
              <a:t> </a:t>
            </a:r>
          </a:p>
          <a:p>
            <a:pPr algn="just">
              <a:buFont typeface="Arial" panose="020B0704020202020204" pitchFamily="34" charset="0"/>
              <a:buChar char="•"/>
            </a:pPr>
            <a:r>
              <a:rPr sz="1800" dirty="0"/>
              <a:t>Th</a:t>
            </a:r>
            <a:r>
              <a:rPr lang="en-US" sz="1800" dirty="0"/>
              <a:t>e project demonstrates modular programming, object-oriented </a:t>
            </a:r>
            <a:r>
              <a:rPr lang="en-HK" sz="1800" dirty="0"/>
              <a:t>design</a:t>
            </a:r>
            <a:r>
              <a:rPr lang="en-US" sz="1800" dirty="0"/>
              <a:t>, and practical data handling.</a:t>
            </a:r>
            <a:endParaRPr sz="1800" dirty="0"/>
          </a:p>
        </p:txBody>
      </p:sp>
      <p:sp>
        <p:nvSpPr>
          <p:cNvPr id="8194" name="Rectangle 2"/>
          <p:cNvSpPr>
            <a:spLocks noGrp="1" noChangeArrowheads="1"/>
          </p:cNvSpPr>
          <p:nvPr>
            <p:custDataLst>
              <p:tags r:id="rId1"/>
            </p:custDataLst>
          </p:nvPr>
        </p:nvSpPr>
        <p:spPr>
          <a:xfrm>
            <a:off x="151765" y="1306195"/>
            <a:ext cx="7074535" cy="632460"/>
          </a:xfrm>
          <a:prstGeom prst="rect">
            <a:avLst/>
          </a:prstGeom>
        </p:spPr>
        <p:txBody>
          <a:bodyPr vert="horz" lIns="91440" tIns="0" rIns="91440" bIns="0" rtlCol="0" anchor="b">
            <a:normAutofit fontScale="72500" lnSpcReduction="20000"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eaLnBrk="1" hangingPunct="1"/>
            <a:r>
              <a:rPr lang="en-US" sz="4000" dirty="0">
                <a:solidFill>
                  <a:srgbClr val="14FD3A"/>
                </a:solidFill>
                <a:sym typeface="+mn-ea"/>
              </a:rPr>
              <a:t>SmartBudget</a:t>
            </a:r>
            <a:r>
              <a:rPr sz="4000">
                <a:sym typeface="+mn-ea"/>
              </a:rPr>
              <a:t> is a lightweight Python package for managing household finances. </a:t>
            </a:r>
            <a:endParaRPr lang="el-GR" sz="4000">
              <a:cs typeface="Arial" panose="020B0704020202020204" pitchFamily="34" charset="0"/>
            </a:endParaRPr>
          </a:p>
        </p:txBody>
      </p:sp>
      <p:sp>
        <p:nvSpPr>
          <p:cNvPr id="8196" name="Line 4"/>
          <p:cNvSpPr>
            <a:spLocks noChangeShapeType="1"/>
          </p:cNvSpPr>
          <p:nvPr>
            <p:custDataLst>
              <p:tags r:id="rId2"/>
            </p:custDataLst>
          </p:nvPr>
        </p:nvSpPr>
        <p:spPr bwMode="auto">
          <a:xfrm>
            <a:off x="152400" y="1200150"/>
            <a:ext cx="65151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</a:ln>
        </p:spPr>
        <p:txBody>
          <a:bodyPr/>
          <a:lstStyle/>
          <a:p>
            <a:endParaRPr lang="en-US" sz="1350"/>
          </a:p>
        </p:txBody>
      </p:sp>
      <p:sp>
        <p:nvSpPr>
          <p:cNvPr id="8197" name="Line 5"/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>
            <a:off x="152400" y="2071688"/>
            <a:ext cx="6515100" cy="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</a:ln>
        </p:spPr>
        <p:txBody>
          <a:bodyPr/>
          <a:lstStyle/>
          <a:p>
            <a:endParaRPr lang="en-US" sz="13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Package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952500"/>
            <a:ext cx="8001000" cy="4210050"/>
          </a:xfrm>
        </p:spPr>
        <p:txBody>
          <a:bodyPr>
            <a:noAutofit/>
          </a:bodyPr>
          <a:lstStyle/>
          <a:p>
            <a:pPr algn="just" fontAlgn="auto">
              <a:spcBef>
                <a:spcPts val="0"/>
              </a:spcBef>
              <a:spcAft>
                <a:spcPts val="3000"/>
              </a:spcAft>
            </a:pPr>
            <a:r>
              <a:rPr sz="1400" dirty="0"/>
              <a:t>It contains four sub-packages:</a:t>
            </a:r>
          </a:p>
          <a:p>
            <a:r>
              <a:rPr sz="1400" dirty="0"/>
              <a:t>1. </a:t>
            </a:r>
            <a:r>
              <a:rPr lang="en-US" sz="1400" b="1" dirty="0">
                <a:solidFill>
                  <a:srgbClr val="14FD3A"/>
                </a:solidFill>
              </a:rPr>
              <a:t>entity </a:t>
            </a:r>
            <a:r>
              <a:rPr sz="1400" dirty="0"/>
              <a:t>– </a:t>
            </a:r>
            <a:r>
              <a:rPr lang="en-HK" sz="1400" dirty="0"/>
              <a:t>Defines the abstract parent class for all financial records, handles validation and serialization, provides functions for computing financial totals and balances, and specifies the two main record types: Income and Expense.</a:t>
            </a:r>
          </a:p>
          <a:p>
            <a:pPr algn="just" fontAlgn="auto">
              <a:spcBef>
                <a:spcPts val="0"/>
              </a:spcBef>
              <a:spcAft>
                <a:spcPts val="0"/>
              </a:spcAft>
            </a:pPr>
            <a:endParaRPr lang="en-HK" sz="1400" dirty="0"/>
          </a:p>
          <a:p>
            <a:pPr algn="just" fontAlgn="auto">
              <a:spcBef>
                <a:spcPts val="0"/>
              </a:spcBef>
              <a:spcAft>
                <a:spcPts val="0"/>
              </a:spcAft>
            </a:pPr>
            <a:endParaRPr sz="1400" dirty="0"/>
          </a:p>
          <a:p>
            <a:r>
              <a:rPr sz="1400" dirty="0"/>
              <a:t>2. </a:t>
            </a:r>
            <a:r>
              <a:rPr lang="en-US" sz="1400" b="1" dirty="0">
                <a:solidFill>
                  <a:srgbClr val="14FD3A"/>
                </a:solidFill>
              </a:rPr>
              <a:t>analysis</a:t>
            </a:r>
            <a:r>
              <a:rPr sz="1400" dirty="0"/>
              <a:t> – </a:t>
            </a:r>
            <a:r>
              <a:rPr lang="en-HK" sz="1400" dirty="0"/>
              <a:t>Provides functions that compute financial totals and balances, along with detailed breakdowns and formatted reporting.</a:t>
            </a:r>
          </a:p>
          <a:p>
            <a:pPr algn="just" fontAlgn="auto">
              <a:spcBef>
                <a:spcPts val="0"/>
              </a:spcBef>
              <a:spcAft>
                <a:spcPts val="1000"/>
              </a:spcAft>
            </a:pPr>
            <a:endParaRPr sz="1400" dirty="0"/>
          </a:p>
          <a:p>
            <a:pPr algn="just" fontAlgn="auto">
              <a:spcBef>
                <a:spcPts val="0"/>
              </a:spcBef>
              <a:spcAft>
                <a:spcPts val="0"/>
              </a:spcAft>
              <a:buClrTx/>
              <a:buSzTx/>
            </a:pPr>
            <a:r>
              <a:rPr sz="1400" dirty="0"/>
              <a:t>3. </a:t>
            </a:r>
            <a:r>
              <a:rPr lang="en-US" sz="1400" b="1" dirty="0">
                <a:solidFill>
                  <a:srgbClr val="14FD3A"/>
                </a:solidFill>
              </a:rPr>
              <a:t>io</a:t>
            </a:r>
            <a:r>
              <a:rPr sz="1400" dirty="0"/>
              <a:t> – </a:t>
            </a:r>
            <a:r>
              <a:rPr lang="en-HK" sz="1400" dirty="0"/>
              <a:t>Handles all record-related actions such as adding, listing, and summarizing, manages file saving, loading, and maintenance, and implements the command-line user interface loop.</a:t>
            </a:r>
          </a:p>
          <a:p>
            <a:pPr algn="just" fontAlgn="auto">
              <a:spcBef>
                <a:spcPts val="0"/>
              </a:spcBef>
              <a:spcAft>
                <a:spcPts val="0"/>
              </a:spcAft>
              <a:buClrTx/>
              <a:buSzTx/>
            </a:pPr>
            <a:endParaRPr lang="en-HK" sz="1400" dirty="0"/>
          </a:p>
          <a:p>
            <a:pPr algn="just" fontAlgn="auto">
              <a:spcBef>
                <a:spcPts val="0"/>
              </a:spcBef>
              <a:spcAft>
                <a:spcPts val="0"/>
              </a:spcAft>
              <a:buClrTx/>
              <a:buSzTx/>
            </a:pPr>
            <a:r>
              <a:rPr sz="1400" dirty="0"/>
              <a:t>4. </a:t>
            </a:r>
            <a:r>
              <a:rPr lang="en-US" sz="1400" b="1" dirty="0">
                <a:solidFill>
                  <a:srgbClr val="14FD3A"/>
                </a:solidFill>
              </a:rPr>
              <a:t>core</a:t>
            </a:r>
            <a:r>
              <a:rPr sz="1400" dirty="0"/>
              <a:t> – </a:t>
            </a:r>
            <a:r>
              <a:rPr lang="en-HK" sz="1400" dirty="0"/>
              <a:t>Offers low-level JSON read/write utilities and general file operations in the /files directory.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Analysis Package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311910"/>
            <a:ext cx="8242300" cy="1094740"/>
          </a:xfrm>
        </p:spPr>
        <p:txBody>
          <a:bodyPr>
            <a:normAutofit/>
          </a:bodyPr>
          <a:lstStyle/>
          <a:p>
            <a:pPr algn="just"/>
            <a:r>
              <a:rPr sz="2000"/>
              <a:t>The </a:t>
            </a:r>
            <a:r>
              <a:rPr lang="en-US" sz="2000" b="1" dirty="0">
                <a:solidFill>
                  <a:srgbClr val="14FD3A"/>
                </a:solidFill>
              </a:rPr>
              <a:t>analysis package </a:t>
            </a:r>
            <a:r>
              <a:rPr sz="2000"/>
              <a:t>is responsible for turning raw income and expense records into useful financial summaries and insights that help users understand their household budget.</a:t>
            </a:r>
          </a:p>
          <a:p>
            <a:endParaRPr lang="en-US"/>
          </a:p>
          <a:p>
            <a:endParaRPr lang="en-US"/>
          </a:p>
        </p:txBody>
      </p:sp>
      <p:grpSp>
        <p:nvGrpSpPr>
          <p:cNvPr id="4" name="Group 3"/>
          <p:cNvGrpSpPr/>
          <p:nvPr/>
        </p:nvGrpSpPr>
        <p:grpSpPr>
          <a:xfrm>
            <a:off x="228600" y="1200150"/>
            <a:ext cx="8209915" cy="1176655"/>
            <a:chOff x="360" y="3210"/>
            <a:chExt cx="10260" cy="1853"/>
          </a:xfrm>
        </p:grpSpPr>
        <p:sp>
          <p:nvSpPr>
            <p:cNvPr id="8196" name="Line 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360" y="3210"/>
              <a:ext cx="10260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8197" name="Line 5"/>
            <p:cNvSpPr>
              <a:spLocks noChangeShapeType="1"/>
            </p:cNvSpPr>
            <p:nvPr>
              <p:custDataLst>
                <p:tags r:id="rId2"/>
              </p:custDataLst>
            </p:nvPr>
          </p:nvSpPr>
          <p:spPr bwMode="auto">
            <a:xfrm>
              <a:off x="360" y="5063"/>
              <a:ext cx="10260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</a:ln>
          </p:spPr>
          <p:txBody>
            <a:bodyPr/>
            <a:lstStyle/>
            <a:p>
              <a:endParaRPr lang="en-US" sz="1350"/>
            </a:p>
          </p:txBody>
        </p:sp>
      </p:grpSp>
      <p:sp>
        <p:nvSpPr>
          <p:cNvPr id="5" name="Text Box 4"/>
          <p:cNvSpPr txBox="1"/>
          <p:nvPr/>
        </p:nvSpPr>
        <p:spPr>
          <a:xfrm>
            <a:off x="152400" y="2495550"/>
            <a:ext cx="4572000" cy="20097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buClrTx/>
              <a:buSzTx/>
            </a:pPr>
            <a:r>
              <a:rPr lang="en-US" sz="1200" dirty="0">
                <a:solidFill>
                  <a:schemeClr val="accent6">
                    <a:lumMod val="75000"/>
                  </a:schemeClr>
                </a:solidFill>
                <a:sym typeface="+mn-ea"/>
              </a:rPr>
              <a:t>Function: incomes</a:t>
            </a:r>
            <a:endParaRPr lang="en-US" sz="1200" dirty="0">
              <a:solidFill>
                <a:schemeClr val="accent6">
                  <a:lumMod val="75000"/>
                </a:schemeClr>
              </a:solidFill>
            </a:endParaRPr>
          </a:p>
          <a:p>
            <a:pPr algn="l">
              <a:spcBef>
                <a:spcPts val="0"/>
              </a:spcBef>
              <a:spcAft>
                <a:spcPts val="1000"/>
              </a:spcAft>
              <a:buClrTx/>
              <a:buSzTx/>
            </a:pPr>
            <a:r>
              <a:rPr sz="1200">
                <a:sym typeface="+mn-ea"/>
              </a:rPr>
              <a:t>Calculates the total amount of all recorded income entries to show how much money is coming in.</a:t>
            </a:r>
            <a:endParaRPr sz="1200"/>
          </a:p>
          <a:p>
            <a:pPr algn="l">
              <a:buClrTx/>
              <a:buSzTx/>
            </a:pPr>
            <a:r>
              <a:rPr lang="en-US" sz="1200" dirty="0">
                <a:solidFill>
                  <a:schemeClr val="accent6">
                    <a:lumMod val="75000"/>
                  </a:schemeClr>
                </a:solidFill>
                <a:sym typeface="+mn-ea"/>
              </a:rPr>
              <a:t>Function: expenses</a:t>
            </a:r>
            <a:endParaRPr lang="en-US" sz="1200" dirty="0">
              <a:solidFill>
                <a:schemeClr val="accent6">
                  <a:lumMod val="75000"/>
                </a:schemeClr>
              </a:solidFill>
            </a:endParaRPr>
          </a:p>
          <a:p>
            <a:pPr algn="l">
              <a:spcBef>
                <a:spcPts val="0"/>
              </a:spcBef>
              <a:spcAft>
                <a:spcPts val="1000"/>
              </a:spcAft>
              <a:buClrTx/>
              <a:buSzTx/>
            </a:pPr>
            <a:r>
              <a:rPr sz="1200">
                <a:sym typeface="+mn-ea"/>
              </a:rPr>
              <a:t>Calculates the total amount of all recorded expenses, preserving negative values to reflect money going out.</a:t>
            </a:r>
            <a:endParaRPr sz="1200"/>
          </a:p>
          <a:p>
            <a:pPr algn="l">
              <a:buClrTx/>
              <a:buSzTx/>
            </a:pPr>
            <a:r>
              <a:rPr lang="en-US" sz="1200" dirty="0">
                <a:solidFill>
                  <a:schemeClr val="accent6">
                    <a:lumMod val="75000"/>
                  </a:schemeClr>
                </a:solidFill>
                <a:sym typeface="+mn-ea"/>
              </a:rPr>
              <a:t>Function: incomes, expenses</a:t>
            </a:r>
            <a:endParaRPr lang="en-US" sz="1200" dirty="0">
              <a:solidFill>
                <a:schemeClr val="accent6">
                  <a:lumMod val="75000"/>
                </a:schemeClr>
              </a:solidFill>
            </a:endParaRPr>
          </a:p>
          <a:p>
            <a:pPr algn="l">
              <a:spcBef>
                <a:spcPts val="0"/>
              </a:spcBef>
              <a:spcAft>
                <a:spcPts val="1000"/>
              </a:spcAft>
              <a:buClrTx/>
              <a:buSzTx/>
            </a:pPr>
            <a:r>
              <a:rPr sz="1200">
                <a:sym typeface="+mn-ea"/>
              </a:rPr>
              <a:t>Combines total income and total expenses to produce the final budget balance</a:t>
            </a:r>
            <a:r>
              <a:rPr lang="en-US" sz="1200">
                <a:sym typeface="+mn-ea"/>
              </a:rPr>
              <a:t>.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4724400" y="2495550"/>
            <a:ext cx="4058920" cy="20097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buClrTx/>
              <a:buSzTx/>
            </a:pPr>
            <a:r>
              <a:rPr lang="en-US" sz="1200" dirty="0">
                <a:solidFill>
                  <a:schemeClr val="accent6">
                    <a:lumMod val="75000"/>
                  </a:schemeClr>
                </a:solidFill>
                <a:sym typeface="+mn-ea"/>
              </a:rPr>
              <a:t>Function: expenses</a:t>
            </a:r>
            <a:endParaRPr lang="en-US" sz="1200" dirty="0">
              <a:solidFill>
                <a:schemeClr val="accent6">
                  <a:lumMod val="75000"/>
                </a:schemeClr>
              </a:solidFill>
            </a:endParaRPr>
          </a:p>
          <a:p>
            <a:pPr algn="l">
              <a:spcBef>
                <a:spcPts val="0"/>
              </a:spcBef>
              <a:spcAft>
                <a:spcPts val="1000"/>
              </a:spcAft>
              <a:buClrTx/>
              <a:buSzTx/>
            </a:pPr>
            <a:r>
              <a:rPr sz="1200">
                <a:sym typeface="+mn-ea"/>
              </a:rPr>
              <a:t>Generates readable text descriptions for each expense so users can easily review their spending history.</a:t>
            </a:r>
            <a:endParaRPr sz="1200"/>
          </a:p>
          <a:p>
            <a:pPr algn="l">
              <a:buClrTx/>
              <a:buSzTx/>
            </a:pPr>
            <a:r>
              <a:rPr lang="en-US" sz="1200" dirty="0">
                <a:solidFill>
                  <a:schemeClr val="accent6">
                    <a:lumMod val="75000"/>
                  </a:schemeClr>
                </a:solidFill>
                <a:sym typeface="+mn-ea"/>
              </a:rPr>
              <a:t>Function: incomes</a:t>
            </a:r>
            <a:endParaRPr lang="en-US" sz="1200" dirty="0">
              <a:solidFill>
                <a:schemeClr val="accent6">
                  <a:lumMod val="75000"/>
                </a:schemeClr>
              </a:solidFill>
            </a:endParaRPr>
          </a:p>
          <a:p>
            <a:pPr algn="l">
              <a:spcBef>
                <a:spcPts val="0"/>
              </a:spcBef>
              <a:spcAft>
                <a:spcPts val="1000"/>
              </a:spcAft>
              <a:buClrTx/>
              <a:buSzTx/>
            </a:pPr>
            <a:r>
              <a:rPr sz="1200">
                <a:sym typeface="+mn-ea"/>
              </a:rPr>
              <a:t>Generates readable text descriptions for each income record so users can easily review their earning history.</a:t>
            </a:r>
            <a:endParaRPr sz="1200"/>
          </a:p>
          <a:p>
            <a:r>
              <a:rPr lang="en-US" sz="1200" dirty="0">
                <a:solidFill>
                  <a:schemeClr val="accent6">
                    <a:lumMod val="75000"/>
                  </a:schemeClr>
                </a:solidFill>
                <a:sym typeface="+mn-ea"/>
              </a:rPr>
              <a:t>Function: largest_expenses</a:t>
            </a:r>
            <a:endParaRPr sz="1200"/>
          </a:p>
          <a:p>
            <a:pPr algn="l">
              <a:spcBef>
                <a:spcPts val="0"/>
              </a:spcBef>
              <a:spcAft>
                <a:spcPts val="1000"/>
              </a:spcAft>
              <a:buClrTx/>
              <a:buSzTx/>
            </a:pPr>
            <a:r>
              <a:rPr sz="1200">
                <a:sym typeface="+mn-ea"/>
              </a:rPr>
              <a:t>Identifies and returns the top largest expenses based on absolute value, helping users spot major spending areas.</a:t>
            </a:r>
            <a:endParaRPr lang="en-US" sz="1200"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152400" y="4518660"/>
            <a:ext cx="431482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200" dirty="0">
                <a:solidFill>
                  <a:schemeClr val="accent6">
                    <a:lumMod val="75000"/>
                  </a:schemeClr>
                </a:solidFill>
                <a:sym typeface="+mn-ea"/>
              </a:rPr>
              <a:t>Function: largest_incomes</a:t>
            </a:r>
            <a:endParaRPr sz="1200"/>
          </a:p>
          <a:p>
            <a:pPr fontAlgn="auto">
              <a:spcBef>
                <a:spcPts val="0"/>
              </a:spcBef>
              <a:spcAft>
                <a:spcPts val="1000"/>
              </a:spcAft>
            </a:pPr>
            <a:r>
              <a:rPr sz="1200">
                <a:sym typeface="+mn-ea"/>
              </a:rPr>
              <a:t>Identifies and returns the top largest income sources in descending order</a:t>
            </a:r>
            <a:r>
              <a:rPr lang="en-US" sz="1200">
                <a:sym typeface="+mn-ea"/>
              </a:rPr>
              <a:t>.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4752975" y="4498340"/>
            <a:ext cx="385826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buClrTx/>
              <a:buSzTx/>
            </a:pPr>
            <a:r>
              <a:rPr lang="en-US" sz="1200" dirty="0">
                <a:solidFill>
                  <a:schemeClr val="accent6">
                    <a:lumMod val="75000"/>
                  </a:schemeClr>
                </a:solidFill>
                <a:sym typeface="+mn-ea"/>
              </a:rPr>
              <a:t>Function: records)</a:t>
            </a:r>
            <a:endParaRPr lang="en-US" sz="1200" dirty="0">
              <a:solidFill>
                <a:schemeClr val="accent6">
                  <a:lumMod val="75000"/>
                </a:schemeClr>
              </a:solidFill>
            </a:endParaRPr>
          </a:p>
          <a:p>
            <a:pPr algn="l">
              <a:spcBef>
                <a:spcPts val="0"/>
              </a:spcBef>
              <a:spcAft>
                <a:spcPts val="1000"/>
              </a:spcAft>
              <a:buClrTx/>
              <a:buSzTx/>
            </a:pPr>
            <a:r>
              <a:rPr sz="1200">
                <a:sym typeface="+mn-ea"/>
              </a:rPr>
              <a:t>Displays a clean, formatted list of records under a given title to improve readability of output.</a:t>
            </a:r>
            <a:endParaRPr lang="en-US" sz="1200"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IO Package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805940"/>
            <a:ext cx="6486525" cy="1178560"/>
          </a:xfrm>
        </p:spPr>
        <p:txBody>
          <a:bodyPr>
            <a:normAutofit lnSpcReduction="10000"/>
          </a:bodyPr>
          <a:lstStyle/>
          <a:p>
            <a:endParaRPr sz="2200"/>
          </a:p>
          <a:p>
            <a:pPr>
              <a:buFont typeface="Arial" panose="020B0704020202020204" pitchFamily="34" charset="0"/>
              <a:buChar char="•"/>
            </a:pPr>
            <a:r>
              <a:rPr lang="en-US" sz="2000"/>
              <a:t> </a:t>
            </a:r>
            <a:r>
              <a:rPr sz="1600"/>
              <a:t>It allows users to save their financial data and reload it later.</a:t>
            </a:r>
          </a:p>
          <a:p>
            <a:pPr>
              <a:buFont typeface="Arial" panose="020B0704020202020204" pitchFamily="34" charset="0"/>
              <a:buChar char="•"/>
            </a:pPr>
            <a:r>
              <a:rPr lang="en-US" sz="1600"/>
              <a:t> </a:t>
            </a:r>
            <a:r>
              <a:rPr sz="1600"/>
              <a:t>All data files are managed inside a dedicated storage folde</a:t>
            </a:r>
            <a:r>
              <a:rPr sz="2000"/>
              <a:t>r.</a:t>
            </a:r>
          </a:p>
          <a:p>
            <a:endParaRPr lang="en-US">
              <a:sym typeface="+mn-ea"/>
            </a:endParaRPr>
          </a:p>
          <a:p>
            <a:endParaRPr lang="en-US">
              <a:sym typeface="+mn-ea"/>
            </a:endParaRPr>
          </a:p>
          <a:p>
            <a:endParaRPr lang="en-US">
              <a:sym typeface="+mn-ea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152400" y="1200150"/>
            <a:ext cx="7477125" cy="871855"/>
            <a:chOff x="240" y="1890"/>
            <a:chExt cx="10260" cy="1373"/>
          </a:xfrm>
        </p:grpSpPr>
        <p:sp>
          <p:nvSpPr>
            <p:cNvPr id="8196" name="Line 4"/>
            <p:cNvSpPr>
              <a:spLocks noChangeShapeType="1"/>
            </p:cNvSpPr>
            <p:nvPr>
              <p:custDataLst>
                <p:tags r:id="rId2"/>
              </p:custDataLst>
            </p:nvPr>
          </p:nvSpPr>
          <p:spPr bwMode="auto">
            <a:xfrm>
              <a:off x="240" y="1890"/>
              <a:ext cx="10260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8197" name="Line 5"/>
            <p:cNvSpPr>
              <a:spLocks noChangeShapeType="1"/>
            </p:cNvSpPr>
            <p:nvPr>
              <p:custDataLst>
                <p:tags r:id="rId3"/>
              </p:custDataLst>
            </p:nvPr>
          </p:nvSpPr>
          <p:spPr bwMode="auto">
            <a:xfrm>
              <a:off x="240" y="3263"/>
              <a:ext cx="10260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</a:ln>
          </p:spPr>
          <p:txBody>
            <a:bodyPr/>
            <a:lstStyle/>
            <a:p>
              <a:endParaRPr lang="en-US" sz="1350"/>
            </a:p>
          </p:txBody>
        </p:sp>
      </p:grpSp>
      <p:sp>
        <p:nvSpPr>
          <p:cNvPr id="8194" name="Rectangle 2"/>
          <p:cNvSpPr>
            <a:spLocks noGrp="1" noChangeArrowheads="1"/>
          </p:cNvSpPr>
          <p:nvPr>
            <p:custDataLst>
              <p:tags r:id="rId1"/>
            </p:custDataLst>
          </p:nvPr>
        </p:nvSpPr>
        <p:spPr>
          <a:xfrm>
            <a:off x="151765" y="1306195"/>
            <a:ext cx="7555865" cy="632460"/>
          </a:xfrm>
          <a:prstGeom prst="rect">
            <a:avLst/>
          </a:prstGeom>
        </p:spPr>
        <p:txBody>
          <a:bodyPr vert="horz" lIns="91440" tIns="0" rIns="91440" bIns="0" rtlCol="0" anchor="b">
            <a:normAutofit fontScale="65000" lnSpcReduction="20000"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eaLnBrk="1" hangingPunct="1"/>
            <a:r>
              <a:rPr sz="4000">
                <a:sym typeface="+mn-ea"/>
              </a:rPr>
              <a:t>The </a:t>
            </a:r>
            <a:r>
              <a:rPr lang="en-US" sz="4000" dirty="0">
                <a:solidFill>
                  <a:srgbClr val="14FD3A"/>
                </a:solidFill>
                <a:sym typeface="+mn-ea"/>
              </a:rPr>
              <a:t>I/O </a:t>
            </a:r>
            <a:r>
              <a:rPr sz="4000">
                <a:sym typeface="+mn-ea"/>
              </a:rPr>
              <a:t>package handles persistent data storage and file operations for the SmartBudget system.</a:t>
            </a:r>
            <a:endParaRPr lang="el-GR" sz="4000">
              <a:cs typeface="Arial" panose="020B0704020202020204" pitchFamily="34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152400" y="3028950"/>
            <a:ext cx="3884295" cy="15119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buClrTx/>
              <a:buSzTx/>
            </a:pPr>
            <a:r>
              <a:rPr lang="en-US" sz="1200" dirty="0">
                <a:solidFill>
                  <a:schemeClr val="accent6">
                    <a:lumMod val="75000"/>
                  </a:schemeClr>
                </a:solidFill>
                <a:sym typeface="+mn-ea"/>
              </a:rPr>
              <a:t>Function: save to json</a:t>
            </a:r>
            <a:endParaRPr lang="en-US" sz="1200" dirty="0">
              <a:solidFill>
                <a:schemeClr val="accent6">
                  <a:lumMod val="75000"/>
                </a:schemeClr>
              </a:solidFill>
            </a:endParaRPr>
          </a:p>
          <a:p>
            <a:pPr fontAlgn="auto">
              <a:spcBef>
                <a:spcPts val="0"/>
              </a:spcBef>
              <a:spcAft>
                <a:spcPts val="1000"/>
              </a:spcAft>
            </a:pPr>
            <a:r>
              <a:rPr sz="1200">
                <a:sym typeface="+mn-ea"/>
              </a:rPr>
              <a:t>Converts income and expense records into a structured JSON format and saves them as a file in the system’s storage directory.</a:t>
            </a:r>
            <a:endParaRPr sz="1200"/>
          </a:p>
          <a:p>
            <a:pPr algn="l">
              <a:buClrTx/>
              <a:buSzTx/>
            </a:pPr>
            <a:r>
              <a:rPr lang="en-US" sz="1200" dirty="0">
                <a:solidFill>
                  <a:schemeClr val="accent6">
                    <a:lumMod val="75000"/>
                  </a:schemeClr>
                </a:solidFill>
                <a:sym typeface="+mn-ea"/>
              </a:rPr>
              <a:t>Function: load from json</a:t>
            </a:r>
            <a:endParaRPr lang="en-US" sz="1200" dirty="0">
              <a:solidFill>
                <a:schemeClr val="accent6">
                  <a:lumMod val="75000"/>
                </a:schemeClr>
              </a:solidFill>
            </a:endParaRPr>
          </a:p>
          <a:p>
            <a:pPr algn="l">
              <a:spcBef>
                <a:spcPts val="0"/>
              </a:spcBef>
              <a:spcAft>
                <a:spcPts val="1000"/>
              </a:spcAft>
              <a:buClrTx/>
              <a:buSzTx/>
            </a:pPr>
            <a:r>
              <a:rPr sz="1200">
                <a:sym typeface="+mn-ea"/>
              </a:rPr>
              <a:t>Loads a JSON file from storage and reconstructs financial records back into usable objects.</a:t>
            </a:r>
            <a:endParaRPr lang="en-US" sz="1200">
              <a:sym typeface="+mn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4191000" y="3028950"/>
            <a:ext cx="3643630" cy="20097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buClrTx/>
              <a:buSzTx/>
            </a:pPr>
            <a:r>
              <a:rPr lang="en-US" sz="1200" dirty="0">
                <a:solidFill>
                  <a:schemeClr val="accent6">
                    <a:lumMod val="75000"/>
                  </a:schemeClr>
                </a:solidFill>
                <a:sym typeface="+mn-ea"/>
              </a:rPr>
              <a:t>Function: file exists</a:t>
            </a:r>
            <a:endParaRPr lang="en-US" sz="1200" dirty="0">
              <a:solidFill>
                <a:schemeClr val="accent6">
                  <a:lumMod val="75000"/>
                </a:schemeClr>
              </a:solidFill>
            </a:endParaRPr>
          </a:p>
          <a:p>
            <a:pPr fontAlgn="auto">
              <a:spcBef>
                <a:spcPts val="0"/>
              </a:spcBef>
              <a:spcAft>
                <a:spcPts val="1000"/>
              </a:spcAft>
            </a:pPr>
            <a:r>
              <a:rPr sz="1200">
                <a:sym typeface="+mn-ea"/>
              </a:rPr>
              <a:t>Checks whether a specific data file already exists to prevent overwriting or loading errors.</a:t>
            </a:r>
            <a:endParaRPr sz="1200"/>
          </a:p>
          <a:p>
            <a:pPr algn="l">
              <a:buClrTx/>
              <a:buSzTx/>
            </a:pPr>
            <a:r>
              <a:rPr lang="en-US" sz="1200" dirty="0">
                <a:solidFill>
                  <a:schemeClr val="accent6">
                    <a:lumMod val="75000"/>
                  </a:schemeClr>
                </a:solidFill>
                <a:sym typeface="+mn-ea"/>
              </a:rPr>
              <a:t>Function: delete file</a:t>
            </a:r>
            <a:endParaRPr lang="en-US" sz="1200" dirty="0">
              <a:solidFill>
                <a:schemeClr val="accent6">
                  <a:lumMod val="75000"/>
                </a:schemeClr>
              </a:solidFill>
            </a:endParaRPr>
          </a:p>
          <a:p>
            <a:pPr algn="l">
              <a:spcBef>
                <a:spcPts val="0"/>
              </a:spcBef>
              <a:spcAft>
                <a:spcPts val="1000"/>
              </a:spcAft>
              <a:buClrTx/>
              <a:buSzTx/>
            </a:pPr>
            <a:r>
              <a:rPr sz="1200">
                <a:sym typeface="+mn-ea"/>
              </a:rPr>
              <a:t>Removes a selected data file from the storage directory to help users manage their saved data.</a:t>
            </a:r>
            <a:endParaRPr sz="1200"/>
          </a:p>
          <a:p>
            <a:pPr algn="l">
              <a:buClrTx/>
              <a:buSzTx/>
            </a:pPr>
            <a:r>
              <a:rPr lang="en-US" sz="1200" dirty="0">
                <a:solidFill>
                  <a:schemeClr val="accent6">
                    <a:lumMod val="75000"/>
                  </a:schemeClr>
                </a:solidFill>
                <a:sym typeface="+mn-ea"/>
              </a:rPr>
              <a:t>Function: list files</a:t>
            </a:r>
            <a:endParaRPr lang="en-US" sz="1200" dirty="0">
              <a:solidFill>
                <a:schemeClr val="accent6">
                  <a:lumMod val="75000"/>
                </a:schemeClr>
              </a:solidFill>
            </a:endParaRPr>
          </a:p>
          <a:p>
            <a:pPr algn="l">
              <a:spcBef>
                <a:spcPts val="0"/>
              </a:spcBef>
              <a:spcAft>
                <a:spcPts val="1000"/>
              </a:spcAft>
              <a:buClrTx/>
              <a:buSzTx/>
            </a:pPr>
            <a:r>
              <a:rPr sz="1200">
                <a:sym typeface="+mn-ea"/>
              </a:rPr>
              <a:t>Displays all available saved data files so users can easily choose what to load or delete.</a:t>
            </a:r>
            <a:endParaRPr lang="en-US" sz="1200"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Package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2357755"/>
            <a:ext cx="7366635" cy="1477010"/>
          </a:xfrm>
        </p:spPr>
        <p:txBody>
          <a:bodyPr>
            <a:normAutofit/>
          </a:bodyPr>
          <a:lstStyle/>
          <a:p>
            <a:r>
              <a:rPr sz="2000" dirty="0"/>
              <a:t>It</a:t>
            </a:r>
            <a:r>
              <a:rPr lang="en-US" sz="2000" dirty="0"/>
              <a:t> coordinates user input, record management, and file operations by routing actions to the correct modules.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152400" y="1200150"/>
            <a:ext cx="7608570" cy="871855"/>
            <a:chOff x="240" y="1890"/>
            <a:chExt cx="10260" cy="1373"/>
          </a:xfrm>
        </p:grpSpPr>
        <p:sp>
          <p:nvSpPr>
            <p:cNvPr id="8196" name="Line 4"/>
            <p:cNvSpPr>
              <a:spLocks noChangeShapeType="1"/>
            </p:cNvSpPr>
            <p:nvPr>
              <p:custDataLst>
                <p:tags r:id="rId2"/>
              </p:custDataLst>
            </p:nvPr>
          </p:nvSpPr>
          <p:spPr bwMode="auto">
            <a:xfrm>
              <a:off x="240" y="1890"/>
              <a:ext cx="10260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8197" name="Line 5"/>
            <p:cNvSpPr>
              <a:spLocks noChangeShapeType="1"/>
            </p:cNvSpPr>
            <p:nvPr>
              <p:custDataLst>
                <p:tags r:id="rId3"/>
              </p:custDataLst>
            </p:nvPr>
          </p:nvSpPr>
          <p:spPr bwMode="auto">
            <a:xfrm>
              <a:off x="240" y="3263"/>
              <a:ext cx="10260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</a:ln>
          </p:spPr>
          <p:txBody>
            <a:bodyPr/>
            <a:lstStyle/>
            <a:p>
              <a:endParaRPr lang="en-US" sz="1350"/>
            </a:p>
          </p:txBody>
        </p:sp>
      </p:grpSp>
      <p:sp>
        <p:nvSpPr>
          <p:cNvPr id="8194" name="Rectangle 2"/>
          <p:cNvSpPr>
            <a:spLocks noGrp="1" noChangeArrowheads="1"/>
          </p:cNvSpPr>
          <p:nvPr>
            <p:custDataLst>
              <p:tags r:id="rId1"/>
            </p:custDataLst>
          </p:nvPr>
        </p:nvSpPr>
        <p:spPr>
          <a:xfrm>
            <a:off x="151765" y="1306195"/>
            <a:ext cx="7649210" cy="632460"/>
          </a:xfrm>
          <a:prstGeom prst="rect">
            <a:avLst/>
          </a:prstGeom>
        </p:spPr>
        <p:txBody>
          <a:bodyPr vert="horz" lIns="91440" tIns="0" rIns="91440" bIns="0" rtlCol="0" anchor="b">
            <a:normAutofit fontScale="72500" lnSpcReduction="20000"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eaLnBrk="1" hangingPunct="1"/>
            <a:r>
              <a:rPr sz="4000" dirty="0">
                <a:sym typeface="+mn-ea"/>
              </a:rPr>
              <a:t>The </a:t>
            </a:r>
            <a:r>
              <a:rPr lang="en-US" sz="4000" dirty="0">
                <a:solidFill>
                  <a:srgbClr val="14FD3A"/>
                </a:solidFill>
                <a:sym typeface="+mn-ea"/>
              </a:rPr>
              <a:t>core package</a:t>
            </a:r>
            <a:r>
              <a:rPr lang="en-HK" sz="4000" dirty="0">
                <a:sym typeface="+mn-ea"/>
              </a:rPr>
              <a:t> provides the application logic layer .</a:t>
            </a:r>
            <a:endParaRPr lang="el-GR" sz="4000" dirty="0">
              <a:cs typeface="Arial" panose="020B0704020202020204" pitchFamily="34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152717" y="3002878"/>
            <a:ext cx="7607935" cy="5847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/>
            <a:r>
              <a:rPr lang="en-US" dirty="0" err="1">
                <a:solidFill>
                  <a:schemeClr val="accent6">
                    <a:lumMod val="75000"/>
                  </a:schemeClr>
                </a:solidFill>
                <a:sym typeface="+mn-ea"/>
              </a:rPr>
              <a:t>contoller_records.py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  <a:p>
            <a:pPr algn="just" fontAlgn="auto">
              <a:spcBef>
                <a:spcPts val="0"/>
              </a:spcBef>
              <a:spcAft>
                <a:spcPts val="1000"/>
              </a:spcAft>
            </a:pPr>
            <a:r>
              <a:rPr lang="en-US" sz="1400" dirty="0">
                <a:sym typeface="+mn-ea"/>
              </a:rPr>
              <a:t>Handles all operations related to adding, updating and displaying financial records.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120502" y="3656895"/>
            <a:ext cx="8054340" cy="61555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buClrTx/>
              <a:buSzTx/>
            </a:pPr>
            <a:r>
              <a:rPr lang="en-US" dirty="0" err="1">
                <a:solidFill>
                  <a:schemeClr val="accent6">
                    <a:lumMod val="75000"/>
                  </a:schemeClr>
                </a:solidFill>
                <a:sym typeface="+mn-ea"/>
              </a:rPr>
              <a:t>contoller_system.py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sz="1600" dirty="0">
                <a:sym typeface="+mn-ea"/>
              </a:rPr>
              <a:t>Manages all file-level operations for </a:t>
            </a:r>
            <a:r>
              <a:rPr lang="en-US" sz="1600" dirty="0" err="1">
                <a:sym typeface="+mn-ea"/>
              </a:rPr>
              <a:t>SmartBudget’s</a:t>
            </a:r>
            <a:r>
              <a:rPr lang="en-US" sz="1600" dirty="0">
                <a:sym typeface="+mn-ea"/>
              </a:rPr>
              <a:t> storage.</a:t>
            </a:r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94C4167D-DBE6-AFD9-6E18-69A1B3C37E07}"/>
              </a:ext>
            </a:extLst>
          </p:cNvPr>
          <p:cNvSpPr txBox="1"/>
          <p:nvPr/>
        </p:nvSpPr>
        <p:spPr>
          <a:xfrm>
            <a:off x="173257" y="4272448"/>
            <a:ext cx="8054340" cy="61555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buClrTx/>
              <a:buSzTx/>
            </a:pPr>
            <a:r>
              <a:rPr lang="en-US" dirty="0" err="1">
                <a:solidFill>
                  <a:schemeClr val="accent6">
                    <a:lumMod val="75000"/>
                  </a:schemeClr>
                </a:solidFill>
                <a:sym typeface="+mn-ea"/>
              </a:rPr>
              <a:t>contoller_menu.py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sz="1600" dirty="0">
                <a:sym typeface="+mn-ea"/>
              </a:rPr>
              <a:t>Implements the command-line menu interface and handles user interaction.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/>
              <a:t>SmartBudget </a:t>
            </a:r>
            <a:r>
              <a:rPr lang="en-US" sz="2000"/>
              <a:t>aim:</a:t>
            </a:r>
          </a:p>
          <a:p>
            <a:pPr>
              <a:buFont typeface="Arial" panose="020B0704020202020204" pitchFamily="34" charset="0"/>
              <a:buChar char="•"/>
            </a:pPr>
            <a:r>
              <a:rPr lang="en-US" sz="2000"/>
              <a:t>  </a:t>
            </a:r>
            <a:r>
              <a:rPr sz="2000"/>
              <a:t>A complete class hierarchy for financial records.</a:t>
            </a:r>
            <a:endParaRPr lang="en-US" sz="2000"/>
          </a:p>
          <a:p>
            <a:pPr>
              <a:buFont typeface="Arial" panose="020B0704020202020204" pitchFamily="34" charset="0"/>
              <a:buChar char="•"/>
            </a:pPr>
            <a:r>
              <a:rPr lang="en-US" sz="2000"/>
              <a:t>  </a:t>
            </a:r>
            <a:r>
              <a:rPr sz="2000"/>
              <a:t>Summary and insight analysis functions.</a:t>
            </a:r>
            <a:endParaRPr lang="en-US" sz="2000"/>
          </a:p>
          <a:p>
            <a:pPr>
              <a:buFont typeface="Arial" panose="020B0704020202020204" pitchFamily="34" charset="0"/>
              <a:buChar char="•"/>
            </a:pPr>
            <a:r>
              <a:rPr lang="en-US" sz="2000"/>
              <a:t>  </a:t>
            </a:r>
            <a:r>
              <a:rPr sz="2000"/>
              <a:t>JSON-based persistence. </a:t>
            </a:r>
            <a:endParaRPr lang="en-US" sz="2000"/>
          </a:p>
          <a:p>
            <a:pPr>
              <a:buFont typeface="Arial" panose="020B0704020202020204" pitchFamily="34" charset="0"/>
              <a:buChar char="•"/>
            </a:pPr>
            <a:r>
              <a:rPr lang="en-US" sz="2000"/>
              <a:t>  </a:t>
            </a:r>
            <a:r>
              <a:rPr sz="2000"/>
              <a:t>File management utilities.</a:t>
            </a:r>
            <a:endParaRPr lang="en-US" sz="2000"/>
          </a:p>
          <a:p>
            <a:pPr>
              <a:buFont typeface="Arial" panose="020B0704020202020204" pitchFamily="34" charset="0"/>
              <a:buChar char="•"/>
            </a:pPr>
            <a:r>
              <a:rPr lang="en-US" sz="2000"/>
              <a:t>  </a:t>
            </a:r>
            <a:r>
              <a:rPr sz="2000"/>
              <a:t>A menu-driven main application.</a:t>
            </a:r>
            <a:endParaRPr lang="en-US" sz="2000"/>
          </a:p>
          <a:p>
            <a:pPr marL="0" indent="0">
              <a:buNone/>
            </a:pPr>
            <a:endParaRPr sz="2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914400" y="1809750"/>
            <a:ext cx="168084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>
                <a:solidFill>
                  <a:schemeClr val="bg1"/>
                </a:solidFill>
                <a:sym typeface="+mn-ea"/>
              </a:rPr>
              <a:t>Thank you!</a:t>
            </a:r>
            <a:endParaRPr lang="en-US">
              <a:solidFill>
                <a:schemeClr val="bg1"/>
              </a:solidFill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79646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667</Words>
  <Application>Microsoft Macintosh PowerPoint</Application>
  <PresentationFormat>On-screen Show (16:9)</PresentationFormat>
  <Paragraphs>74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Whitney Book</vt:lpstr>
      <vt:lpstr>Arial</vt:lpstr>
      <vt:lpstr>Calibri</vt:lpstr>
      <vt:lpstr>Symbol</vt:lpstr>
      <vt:lpstr>Wingdings</vt:lpstr>
      <vt:lpstr>Office Theme</vt:lpstr>
      <vt:lpstr>PowerPoint Presentation</vt:lpstr>
      <vt:lpstr>SmartBudget Project</vt:lpstr>
      <vt:lpstr>Project Overview</vt:lpstr>
      <vt:lpstr>Package Structure</vt:lpstr>
      <vt:lpstr>Analysis Package</vt:lpstr>
      <vt:lpstr>IO Package</vt:lpstr>
      <vt:lpstr>Core Package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531 - Python Introduction</dc:title>
  <dc:creator/>
  <cp:lastModifiedBy>一夫</cp:lastModifiedBy>
  <cp:revision>20</cp:revision>
  <dcterms:created xsi:type="dcterms:W3CDTF">2025-11-24T19:14:50Z</dcterms:created>
  <dcterms:modified xsi:type="dcterms:W3CDTF">2025-11-25T08:13:27Z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43D9FFD5C2E1838A29E42369AED478D2_42</vt:lpwstr>
  </property>
  <property fmtid="{D5CDD505-2E9C-101B-9397-08002B2CF9AE}" pid="3" name="KSOProductBuildVer">
    <vt:lpwstr>1033-6.8.2.8850</vt:lpwstr>
  </property>
</Properties>
</file>